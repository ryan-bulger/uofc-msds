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C2C43-413B-4466-AA47-3401853E1FC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AAE857-63B1-4A64-8A83-0E3AA5F4D54E}">
      <dgm:prSet/>
      <dgm:spPr/>
      <dgm:t>
        <a:bodyPr/>
        <a:lstStyle/>
        <a:p>
          <a:r>
            <a:rPr lang="en-CA" dirty="0"/>
            <a:t>Where do shootings occur?</a:t>
          </a:r>
          <a:endParaRPr lang="en-US" dirty="0"/>
        </a:p>
      </dgm:t>
    </dgm:pt>
    <dgm:pt modelId="{595368EC-9926-46C1-BEF7-FCE8F6378C63}" type="parTrans" cxnId="{9B9CE27A-377B-41B8-A472-A5BB826C6F0A}">
      <dgm:prSet/>
      <dgm:spPr/>
      <dgm:t>
        <a:bodyPr/>
        <a:lstStyle/>
        <a:p>
          <a:endParaRPr lang="en-US"/>
        </a:p>
      </dgm:t>
    </dgm:pt>
    <dgm:pt modelId="{E0B6F2A4-3626-43CD-B84D-FC0C85719A44}" type="sibTrans" cxnId="{9B9CE27A-377B-41B8-A472-A5BB826C6F0A}">
      <dgm:prSet/>
      <dgm:spPr/>
      <dgm:t>
        <a:bodyPr/>
        <a:lstStyle/>
        <a:p>
          <a:endParaRPr lang="en-US"/>
        </a:p>
      </dgm:t>
    </dgm:pt>
    <dgm:pt modelId="{97F6BBDB-7A93-41C4-919D-C883D3219AA8}">
      <dgm:prSet/>
      <dgm:spPr/>
      <dgm:t>
        <a:bodyPr/>
        <a:lstStyle/>
        <a:p>
          <a:r>
            <a:rPr lang="en-CA" dirty="0"/>
            <a:t>How does the time of day affect the incident?</a:t>
          </a:r>
          <a:endParaRPr lang="en-US" dirty="0"/>
        </a:p>
      </dgm:t>
    </dgm:pt>
    <dgm:pt modelId="{02FF214F-8BFF-42B3-BC7E-48FA520CF39B}" type="parTrans" cxnId="{CA3FAE53-D693-4998-A612-EFC5E93AAB7C}">
      <dgm:prSet/>
      <dgm:spPr/>
      <dgm:t>
        <a:bodyPr/>
        <a:lstStyle/>
        <a:p>
          <a:endParaRPr lang="en-US"/>
        </a:p>
      </dgm:t>
    </dgm:pt>
    <dgm:pt modelId="{805FD3D2-B20A-477E-AE0D-ABB11A8C66DD}" type="sibTrans" cxnId="{CA3FAE53-D693-4998-A612-EFC5E93AAB7C}">
      <dgm:prSet/>
      <dgm:spPr/>
      <dgm:t>
        <a:bodyPr/>
        <a:lstStyle/>
        <a:p>
          <a:endParaRPr lang="en-US"/>
        </a:p>
      </dgm:t>
    </dgm:pt>
    <dgm:pt modelId="{C47A5E32-F5DB-44DF-9C1B-4B8B219D2645}">
      <dgm:prSet/>
      <dgm:spPr/>
      <dgm:t>
        <a:bodyPr/>
        <a:lstStyle/>
        <a:p>
          <a:r>
            <a:rPr lang="en-CA" dirty="0"/>
            <a:t>What is the age distribution of the perpetrators?</a:t>
          </a:r>
          <a:endParaRPr lang="en-US" dirty="0"/>
        </a:p>
      </dgm:t>
    </dgm:pt>
    <dgm:pt modelId="{2E34816C-40DD-4077-A703-8EF1E535A787}" type="parTrans" cxnId="{DF4AE08B-0C36-41F8-8EA9-B60383A6BA52}">
      <dgm:prSet/>
      <dgm:spPr/>
      <dgm:t>
        <a:bodyPr/>
        <a:lstStyle/>
        <a:p>
          <a:endParaRPr lang="en-US"/>
        </a:p>
      </dgm:t>
    </dgm:pt>
    <dgm:pt modelId="{E263479D-A21B-4F90-9F07-F95EB07E5AAB}" type="sibTrans" cxnId="{DF4AE08B-0C36-41F8-8EA9-B60383A6BA52}">
      <dgm:prSet/>
      <dgm:spPr/>
      <dgm:t>
        <a:bodyPr/>
        <a:lstStyle/>
        <a:p>
          <a:endParaRPr lang="en-US"/>
        </a:p>
      </dgm:t>
    </dgm:pt>
    <dgm:pt modelId="{12E06B3E-CBA1-427F-B1F9-89605F77E069}">
      <dgm:prSet/>
      <dgm:spPr/>
      <dgm:t>
        <a:bodyPr/>
        <a:lstStyle/>
        <a:p>
          <a:r>
            <a:rPr lang="en-CA" dirty="0"/>
            <a:t>Is there a racial bias in these incidents?</a:t>
          </a:r>
          <a:endParaRPr lang="en-US" dirty="0"/>
        </a:p>
      </dgm:t>
    </dgm:pt>
    <dgm:pt modelId="{19EAD8A0-2A21-43AD-BB70-ADBCA056C133}" type="parTrans" cxnId="{752662B3-BF21-4ED9-95CB-1860052C192F}">
      <dgm:prSet/>
      <dgm:spPr/>
      <dgm:t>
        <a:bodyPr/>
        <a:lstStyle/>
        <a:p>
          <a:endParaRPr lang="en-US"/>
        </a:p>
      </dgm:t>
    </dgm:pt>
    <dgm:pt modelId="{F0D75C31-FC6C-4462-A95D-9C369827C83D}" type="sibTrans" cxnId="{752662B3-BF21-4ED9-95CB-1860052C192F}">
      <dgm:prSet/>
      <dgm:spPr/>
      <dgm:t>
        <a:bodyPr/>
        <a:lstStyle/>
        <a:p>
          <a:endParaRPr lang="en-US"/>
        </a:p>
      </dgm:t>
    </dgm:pt>
    <dgm:pt modelId="{57D8A5D4-4209-41DA-996F-BEAC64FD4F70}" type="pres">
      <dgm:prSet presAssocID="{000C2C43-413B-4466-AA47-3401853E1FCF}" presName="linear" presStyleCnt="0">
        <dgm:presLayoutVars>
          <dgm:animLvl val="lvl"/>
          <dgm:resizeHandles val="exact"/>
        </dgm:presLayoutVars>
      </dgm:prSet>
      <dgm:spPr/>
    </dgm:pt>
    <dgm:pt modelId="{89415886-74E7-4C36-8305-B72E0EE75D24}" type="pres">
      <dgm:prSet presAssocID="{C0AAE857-63B1-4A64-8A83-0E3AA5F4D5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B01E51-A5AE-4A9B-8188-4E51329CBD65}" type="pres">
      <dgm:prSet presAssocID="{E0B6F2A4-3626-43CD-B84D-FC0C85719A44}" presName="spacer" presStyleCnt="0"/>
      <dgm:spPr/>
    </dgm:pt>
    <dgm:pt modelId="{24FC6EDB-F0B6-4D93-B2C6-82E41FCA4E9F}" type="pres">
      <dgm:prSet presAssocID="{97F6BBDB-7A93-41C4-919D-C883D3219A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A485E6-B732-4382-A8D2-CFE6EB57A5CA}" type="pres">
      <dgm:prSet presAssocID="{805FD3D2-B20A-477E-AE0D-ABB11A8C66DD}" presName="spacer" presStyleCnt="0"/>
      <dgm:spPr/>
    </dgm:pt>
    <dgm:pt modelId="{5CD375C3-936C-4156-A8FE-3FF2687DB72C}" type="pres">
      <dgm:prSet presAssocID="{C47A5E32-F5DB-44DF-9C1B-4B8B219D26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3A77D2-B3BE-480C-B75C-B89490BA83DA}" type="pres">
      <dgm:prSet presAssocID="{E263479D-A21B-4F90-9F07-F95EB07E5AAB}" presName="spacer" presStyleCnt="0"/>
      <dgm:spPr/>
    </dgm:pt>
    <dgm:pt modelId="{E03992BD-EA60-44CE-941A-FD6EA1C0F704}" type="pres">
      <dgm:prSet presAssocID="{12E06B3E-CBA1-427F-B1F9-89605F77E0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5E700D-2B3F-4B47-81DC-DF373658F19A}" type="presOf" srcId="{C47A5E32-F5DB-44DF-9C1B-4B8B219D2645}" destId="{5CD375C3-936C-4156-A8FE-3FF2687DB72C}" srcOrd="0" destOrd="0" presId="urn:microsoft.com/office/officeart/2005/8/layout/vList2"/>
    <dgm:cxn modelId="{5853B53A-3BFE-4B48-AD22-BE867DC5F99F}" type="presOf" srcId="{C0AAE857-63B1-4A64-8A83-0E3AA5F4D54E}" destId="{89415886-74E7-4C36-8305-B72E0EE75D24}" srcOrd="0" destOrd="0" presId="urn:microsoft.com/office/officeart/2005/8/layout/vList2"/>
    <dgm:cxn modelId="{D2524A67-ADAF-4CD5-A8D6-6F71DC0602AA}" type="presOf" srcId="{12E06B3E-CBA1-427F-B1F9-89605F77E069}" destId="{E03992BD-EA60-44CE-941A-FD6EA1C0F704}" srcOrd="0" destOrd="0" presId="urn:microsoft.com/office/officeart/2005/8/layout/vList2"/>
    <dgm:cxn modelId="{CA3FAE53-D693-4998-A612-EFC5E93AAB7C}" srcId="{000C2C43-413B-4466-AA47-3401853E1FCF}" destId="{97F6BBDB-7A93-41C4-919D-C883D3219AA8}" srcOrd="1" destOrd="0" parTransId="{02FF214F-8BFF-42B3-BC7E-48FA520CF39B}" sibTransId="{805FD3D2-B20A-477E-AE0D-ABB11A8C66DD}"/>
    <dgm:cxn modelId="{9B9CE27A-377B-41B8-A472-A5BB826C6F0A}" srcId="{000C2C43-413B-4466-AA47-3401853E1FCF}" destId="{C0AAE857-63B1-4A64-8A83-0E3AA5F4D54E}" srcOrd="0" destOrd="0" parTransId="{595368EC-9926-46C1-BEF7-FCE8F6378C63}" sibTransId="{E0B6F2A4-3626-43CD-B84D-FC0C85719A44}"/>
    <dgm:cxn modelId="{DF4AE08B-0C36-41F8-8EA9-B60383A6BA52}" srcId="{000C2C43-413B-4466-AA47-3401853E1FCF}" destId="{C47A5E32-F5DB-44DF-9C1B-4B8B219D2645}" srcOrd="2" destOrd="0" parTransId="{2E34816C-40DD-4077-A703-8EF1E535A787}" sibTransId="{E263479D-A21B-4F90-9F07-F95EB07E5AAB}"/>
    <dgm:cxn modelId="{F4DC65A5-7875-4A17-8068-0A3D0B354FCD}" type="presOf" srcId="{97F6BBDB-7A93-41C4-919D-C883D3219AA8}" destId="{24FC6EDB-F0B6-4D93-B2C6-82E41FCA4E9F}" srcOrd="0" destOrd="0" presId="urn:microsoft.com/office/officeart/2005/8/layout/vList2"/>
    <dgm:cxn modelId="{752662B3-BF21-4ED9-95CB-1860052C192F}" srcId="{000C2C43-413B-4466-AA47-3401853E1FCF}" destId="{12E06B3E-CBA1-427F-B1F9-89605F77E069}" srcOrd="3" destOrd="0" parTransId="{19EAD8A0-2A21-43AD-BB70-ADBCA056C133}" sibTransId="{F0D75C31-FC6C-4462-A95D-9C369827C83D}"/>
    <dgm:cxn modelId="{4A8A05FC-73F9-4D94-AE75-9A6D43639B70}" type="presOf" srcId="{000C2C43-413B-4466-AA47-3401853E1FCF}" destId="{57D8A5D4-4209-41DA-996F-BEAC64FD4F70}" srcOrd="0" destOrd="0" presId="urn:microsoft.com/office/officeart/2005/8/layout/vList2"/>
    <dgm:cxn modelId="{D7BCBEF1-403A-4162-A75D-E7641F8053EE}" type="presParOf" srcId="{57D8A5D4-4209-41DA-996F-BEAC64FD4F70}" destId="{89415886-74E7-4C36-8305-B72E0EE75D24}" srcOrd="0" destOrd="0" presId="urn:microsoft.com/office/officeart/2005/8/layout/vList2"/>
    <dgm:cxn modelId="{218ADB62-4A42-49E3-AF2C-D47DDABDA8F5}" type="presParOf" srcId="{57D8A5D4-4209-41DA-996F-BEAC64FD4F70}" destId="{98B01E51-A5AE-4A9B-8188-4E51329CBD65}" srcOrd="1" destOrd="0" presId="urn:microsoft.com/office/officeart/2005/8/layout/vList2"/>
    <dgm:cxn modelId="{98A00CF9-E347-4D45-A5C1-70E8889BF291}" type="presParOf" srcId="{57D8A5D4-4209-41DA-996F-BEAC64FD4F70}" destId="{24FC6EDB-F0B6-4D93-B2C6-82E41FCA4E9F}" srcOrd="2" destOrd="0" presId="urn:microsoft.com/office/officeart/2005/8/layout/vList2"/>
    <dgm:cxn modelId="{7F2D3A8D-9296-4223-98B3-7A2BF0845520}" type="presParOf" srcId="{57D8A5D4-4209-41DA-996F-BEAC64FD4F70}" destId="{6AA485E6-B732-4382-A8D2-CFE6EB57A5CA}" srcOrd="3" destOrd="0" presId="urn:microsoft.com/office/officeart/2005/8/layout/vList2"/>
    <dgm:cxn modelId="{A909A3F4-1DB7-4CBF-AE01-D8C015B77680}" type="presParOf" srcId="{57D8A5D4-4209-41DA-996F-BEAC64FD4F70}" destId="{5CD375C3-936C-4156-A8FE-3FF2687DB72C}" srcOrd="4" destOrd="0" presId="urn:microsoft.com/office/officeart/2005/8/layout/vList2"/>
    <dgm:cxn modelId="{CFE98D1E-1B06-4B28-83F6-144434C87E9D}" type="presParOf" srcId="{57D8A5D4-4209-41DA-996F-BEAC64FD4F70}" destId="{2B3A77D2-B3BE-480C-B75C-B89490BA83DA}" srcOrd="5" destOrd="0" presId="urn:microsoft.com/office/officeart/2005/8/layout/vList2"/>
    <dgm:cxn modelId="{6DB18154-6E34-4218-A747-7AAC819E4894}" type="presParOf" srcId="{57D8A5D4-4209-41DA-996F-BEAC64FD4F70}" destId="{E03992BD-EA60-44CE-941A-FD6EA1C0F7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D025EC-0CFB-44B6-8925-1F9DFE703BE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CA"/>
        </a:p>
      </dgm:t>
    </dgm:pt>
    <dgm:pt modelId="{358277D2-673A-49E1-92E8-DF4A3CC49390}">
      <dgm:prSet/>
      <dgm:spPr/>
      <dgm:t>
        <a:bodyPr/>
        <a:lstStyle/>
        <a:p>
          <a:r>
            <a:rPr lang="en-US"/>
            <a:t>Location</a:t>
          </a:r>
          <a:endParaRPr lang="en-CA"/>
        </a:p>
      </dgm:t>
    </dgm:pt>
    <dgm:pt modelId="{4E266CF6-E4F7-47AA-9D57-AD2587A71EBD}" type="parTrans" cxnId="{6A788B3E-4851-4DD1-AA5B-13FE7935E855}">
      <dgm:prSet/>
      <dgm:spPr/>
      <dgm:t>
        <a:bodyPr/>
        <a:lstStyle/>
        <a:p>
          <a:endParaRPr lang="en-CA"/>
        </a:p>
      </dgm:t>
    </dgm:pt>
    <dgm:pt modelId="{ECD5D245-F832-4B0F-9C46-5817132FF381}" type="sibTrans" cxnId="{6A788B3E-4851-4DD1-AA5B-13FE7935E855}">
      <dgm:prSet/>
      <dgm:spPr/>
      <dgm:t>
        <a:bodyPr/>
        <a:lstStyle/>
        <a:p>
          <a:endParaRPr lang="en-CA"/>
        </a:p>
      </dgm:t>
    </dgm:pt>
    <dgm:pt modelId="{965E7275-CE6C-4954-ADCE-10ECD5430BAA}">
      <dgm:prSet/>
      <dgm:spPr/>
      <dgm:t>
        <a:bodyPr/>
        <a:lstStyle/>
        <a:p>
          <a:r>
            <a:rPr lang="en-US"/>
            <a:t>Date</a:t>
          </a:r>
          <a:endParaRPr lang="en-CA"/>
        </a:p>
      </dgm:t>
    </dgm:pt>
    <dgm:pt modelId="{6FA0AE3D-9F49-4400-980D-3104348A04DE}" type="parTrans" cxnId="{9D54F0C1-680C-416B-9010-BB89C983A4DE}">
      <dgm:prSet/>
      <dgm:spPr/>
      <dgm:t>
        <a:bodyPr/>
        <a:lstStyle/>
        <a:p>
          <a:endParaRPr lang="en-CA"/>
        </a:p>
      </dgm:t>
    </dgm:pt>
    <dgm:pt modelId="{BDCABA52-06BF-4BDF-AF67-6EE7BE28CA1A}" type="sibTrans" cxnId="{9D54F0C1-680C-416B-9010-BB89C983A4DE}">
      <dgm:prSet/>
      <dgm:spPr/>
      <dgm:t>
        <a:bodyPr/>
        <a:lstStyle/>
        <a:p>
          <a:endParaRPr lang="en-CA"/>
        </a:p>
      </dgm:t>
    </dgm:pt>
    <dgm:pt modelId="{E0E8B410-D9A8-4305-ACE2-A71ECBDC11B3}">
      <dgm:prSet/>
      <dgm:spPr/>
      <dgm:t>
        <a:bodyPr/>
        <a:lstStyle/>
        <a:p>
          <a:r>
            <a:rPr lang="en-US"/>
            <a:t>Time</a:t>
          </a:r>
          <a:endParaRPr lang="en-CA"/>
        </a:p>
      </dgm:t>
    </dgm:pt>
    <dgm:pt modelId="{48EC46AC-DB9C-4425-9D8D-04BCA9C6C1A8}" type="parTrans" cxnId="{1830368C-E2EC-425C-980E-02C5C4147C07}">
      <dgm:prSet/>
      <dgm:spPr/>
      <dgm:t>
        <a:bodyPr/>
        <a:lstStyle/>
        <a:p>
          <a:endParaRPr lang="en-CA"/>
        </a:p>
      </dgm:t>
    </dgm:pt>
    <dgm:pt modelId="{277A2980-CACA-428C-98DB-875DBD267AA2}" type="sibTrans" cxnId="{1830368C-E2EC-425C-980E-02C5C4147C07}">
      <dgm:prSet/>
      <dgm:spPr/>
      <dgm:t>
        <a:bodyPr/>
        <a:lstStyle/>
        <a:p>
          <a:endParaRPr lang="en-CA"/>
        </a:p>
      </dgm:t>
    </dgm:pt>
    <dgm:pt modelId="{E611A1AA-BE75-4035-96B4-2686D1F8D0B8}">
      <dgm:prSet/>
      <dgm:spPr/>
      <dgm:t>
        <a:bodyPr/>
        <a:lstStyle/>
        <a:p>
          <a:r>
            <a:rPr lang="en-US"/>
            <a:t>Age</a:t>
          </a:r>
          <a:endParaRPr lang="en-CA"/>
        </a:p>
      </dgm:t>
    </dgm:pt>
    <dgm:pt modelId="{8574AEEC-A1AA-4A16-A5F4-7646C9B9B382}" type="parTrans" cxnId="{235F472A-A2A8-44E9-8D0F-F7F55700300F}">
      <dgm:prSet/>
      <dgm:spPr/>
      <dgm:t>
        <a:bodyPr/>
        <a:lstStyle/>
        <a:p>
          <a:endParaRPr lang="en-CA"/>
        </a:p>
      </dgm:t>
    </dgm:pt>
    <dgm:pt modelId="{2C2060A7-2FBC-4CE5-85DB-297B31E8D9A0}" type="sibTrans" cxnId="{235F472A-A2A8-44E9-8D0F-F7F55700300F}">
      <dgm:prSet/>
      <dgm:spPr/>
      <dgm:t>
        <a:bodyPr/>
        <a:lstStyle/>
        <a:p>
          <a:endParaRPr lang="en-CA"/>
        </a:p>
      </dgm:t>
    </dgm:pt>
    <dgm:pt modelId="{EDC96688-144B-4F9D-BDC7-9D53B035A67D}">
      <dgm:prSet/>
      <dgm:spPr/>
      <dgm:t>
        <a:bodyPr/>
        <a:lstStyle/>
        <a:p>
          <a:r>
            <a:rPr lang="en-US"/>
            <a:t>Gender</a:t>
          </a:r>
          <a:endParaRPr lang="en-CA"/>
        </a:p>
      </dgm:t>
    </dgm:pt>
    <dgm:pt modelId="{C5FCF892-BDC8-4498-AC9F-401BF9FAD348}" type="parTrans" cxnId="{C90E9C11-1FFC-47F6-9299-D4F48B59128A}">
      <dgm:prSet/>
      <dgm:spPr/>
      <dgm:t>
        <a:bodyPr/>
        <a:lstStyle/>
        <a:p>
          <a:endParaRPr lang="en-CA"/>
        </a:p>
      </dgm:t>
    </dgm:pt>
    <dgm:pt modelId="{237265F9-6632-4717-9980-19199CFF3A82}" type="sibTrans" cxnId="{C90E9C11-1FFC-47F6-9299-D4F48B59128A}">
      <dgm:prSet/>
      <dgm:spPr/>
      <dgm:t>
        <a:bodyPr/>
        <a:lstStyle/>
        <a:p>
          <a:endParaRPr lang="en-CA"/>
        </a:p>
      </dgm:t>
    </dgm:pt>
    <dgm:pt modelId="{8DAF33EF-08D4-41A3-91A4-01690DECA1D0}">
      <dgm:prSet/>
      <dgm:spPr/>
      <dgm:t>
        <a:bodyPr/>
        <a:lstStyle/>
        <a:p>
          <a:r>
            <a:rPr lang="en-US"/>
            <a:t>Race</a:t>
          </a:r>
          <a:endParaRPr lang="en-CA"/>
        </a:p>
      </dgm:t>
    </dgm:pt>
    <dgm:pt modelId="{6662193C-E35B-47DA-B325-1090360D4AD6}" type="parTrans" cxnId="{C8EFED52-A9F0-4850-99F5-5B8CDEB322B9}">
      <dgm:prSet/>
      <dgm:spPr/>
      <dgm:t>
        <a:bodyPr/>
        <a:lstStyle/>
        <a:p>
          <a:endParaRPr lang="en-CA"/>
        </a:p>
      </dgm:t>
    </dgm:pt>
    <dgm:pt modelId="{1CE1F701-2786-487B-B48C-0C78A7448D94}" type="sibTrans" cxnId="{C8EFED52-A9F0-4850-99F5-5B8CDEB322B9}">
      <dgm:prSet/>
      <dgm:spPr/>
      <dgm:t>
        <a:bodyPr/>
        <a:lstStyle/>
        <a:p>
          <a:endParaRPr lang="en-CA"/>
        </a:p>
      </dgm:t>
    </dgm:pt>
    <dgm:pt modelId="{69A60967-B08B-463F-A6DD-C667620FD485}" type="pres">
      <dgm:prSet presAssocID="{58D025EC-0CFB-44B6-8925-1F9DFE703BE6}" presName="linear" presStyleCnt="0">
        <dgm:presLayoutVars>
          <dgm:animLvl val="lvl"/>
          <dgm:resizeHandles val="exact"/>
        </dgm:presLayoutVars>
      </dgm:prSet>
      <dgm:spPr/>
    </dgm:pt>
    <dgm:pt modelId="{D07848E1-114B-466F-AFF1-4458D3BD29C7}" type="pres">
      <dgm:prSet presAssocID="{358277D2-673A-49E1-92E8-DF4A3CC4939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EE28B03-5BD2-4177-BCAC-848D030CBA1B}" type="pres">
      <dgm:prSet presAssocID="{ECD5D245-F832-4B0F-9C46-5817132FF381}" presName="spacer" presStyleCnt="0"/>
      <dgm:spPr/>
    </dgm:pt>
    <dgm:pt modelId="{F0EED2EB-7949-4746-93E9-3004384AD5A7}" type="pres">
      <dgm:prSet presAssocID="{965E7275-CE6C-4954-ADCE-10ECD5430BA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65A6D8-09FA-4F92-9A6E-6929B9458760}" type="pres">
      <dgm:prSet presAssocID="{BDCABA52-06BF-4BDF-AF67-6EE7BE28CA1A}" presName="spacer" presStyleCnt="0"/>
      <dgm:spPr/>
    </dgm:pt>
    <dgm:pt modelId="{C8B5D528-1395-4B52-B73A-6010D2EF3857}" type="pres">
      <dgm:prSet presAssocID="{E0E8B410-D9A8-4305-ACE2-A71ECBDC11B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F8E787-41AA-4A82-91FE-045EAA07824E}" type="pres">
      <dgm:prSet presAssocID="{277A2980-CACA-428C-98DB-875DBD267AA2}" presName="spacer" presStyleCnt="0"/>
      <dgm:spPr/>
    </dgm:pt>
    <dgm:pt modelId="{3C3FA422-65F7-4498-BBE2-4847FB93E511}" type="pres">
      <dgm:prSet presAssocID="{E611A1AA-BE75-4035-96B4-2686D1F8D0B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59AA863-513E-4798-A74A-23B21C8DFEC1}" type="pres">
      <dgm:prSet presAssocID="{2C2060A7-2FBC-4CE5-85DB-297B31E8D9A0}" presName="spacer" presStyleCnt="0"/>
      <dgm:spPr/>
    </dgm:pt>
    <dgm:pt modelId="{1617B912-624E-4A4B-A751-726DFC77AE3D}" type="pres">
      <dgm:prSet presAssocID="{EDC96688-144B-4F9D-BDC7-9D53B035A67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0F083B7-8290-498F-94D9-1AC7C21CBE37}" type="pres">
      <dgm:prSet presAssocID="{237265F9-6632-4717-9980-19199CFF3A82}" presName="spacer" presStyleCnt="0"/>
      <dgm:spPr/>
    </dgm:pt>
    <dgm:pt modelId="{F37C4960-9ADE-4E3E-BF92-7D64080D0173}" type="pres">
      <dgm:prSet presAssocID="{8DAF33EF-08D4-41A3-91A4-01690DECA1D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90E9C11-1FFC-47F6-9299-D4F48B59128A}" srcId="{58D025EC-0CFB-44B6-8925-1F9DFE703BE6}" destId="{EDC96688-144B-4F9D-BDC7-9D53B035A67D}" srcOrd="4" destOrd="0" parTransId="{C5FCF892-BDC8-4498-AC9F-401BF9FAD348}" sibTransId="{237265F9-6632-4717-9980-19199CFF3A82}"/>
    <dgm:cxn modelId="{9FDFB81A-B135-4F2B-A48F-A511EDE49247}" type="presOf" srcId="{965E7275-CE6C-4954-ADCE-10ECD5430BAA}" destId="{F0EED2EB-7949-4746-93E9-3004384AD5A7}" srcOrd="0" destOrd="0" presId="urn:microsoft.com/office/officeart/2005/8/layout/vList2"/>
    <dgm:cxn modelId="{235F472A-A2A8-44E9-8D0F-F7F55700300F}" srcId="{58D025EC-0CFB-44B6-8925-1F9DFE703BE6}" destId="{E611A1AA-BE75-4035-96B4-2686D1F8D0B8}" srcOrd="3" destOrd="0" parTransId="{8574AEEC-A1AA-4A16-A5F4-7646C9B9B382}" sibTransId="{2C2060A7-2FBC-4CE5-85DB-297B31E8D9A0}"/>
    <dgm:cxn modelId="{7CC22337-E114-4F20-BDA6-FB2855EFC7D6}" type="presOf" srcId="{E0E8B410-D9A8-4305-ACE2-A71ECBDC11B3}" destId="{C8B5D528-1395-4B52-B73A-6010D2EF3857}" srcOrd="0" destOrd="0" presId="urn:microsoft.com/office/officeart/2005/8/layout/vList2"/>
    <dgm:cxn modelId="{DCC6AC3A-3BA8-46FE-A7CE-82E78D708634}" type="presOf" srcId="{358277D2-673A-49E1-92E8-DF4A3CC49390}" destId="{D07848E1-114B-466F-AFF1-4458D3BD29C7}" srcOrd="0" destOrd="0" presId="urn:microsoft.com/office/officeart/2005/8/layout/vList2"/>
    <dgm:cxn modelId="{6A788B3E-4851-4DD1-AA5B-13FE7935E855}" srcId="{58D025EC-0CFB-44B6-8925-1F9DFE703BE6}" destId="{358277D2-673A-49E1-92E8-DF4A3CC49390}" srcOrd="0" destOrd="0" parTransId="{4E266CF6-E4F7-47AA-9D57-AD2587A71EBD}" sibTransId="{ECD5D245-F832-4B0F-9C46-5817132FF381}"/>
    <dgm:cxn modelId="{7A83C446-1F2B-49EB-B1AA-1A702B9CAB1C}" type="presOf" srcId="{EDC96688-144B-4F9D-BDC7-9D53B035A67D}" destId="{1617B912-624E-4A4B-A751-726DFC77AE3D}" srcOrd="0" destOrd="0" presId="urn:microsoft.com/office/officeart/2005/8/layout/vList2"/>
    <dgm:cxn modelId="{C8EFED52-A9F0-4850-99F5-5B8CDEB322B9}" srcId="{58D025EC-0CFB-44B6-8925-1F9DFE703BE6}" destId="{8DAF33EF-08D4-41A3-91A4-01690DECA1D0}" srcOrd="5" destOrd="0" parTransId="{6662193C-E35B-47DA-B325-1090360D4AD6}" sibTransId="{1CE1F701-2786-487B-B48C-0C78A7448D94}"/>
    <dgm:cxn modelId="{1830368C-E2EC-425C-980E-02C5C4147C07}" srcId="{58D025EC-0CFB-44B6-8925-1F9DFE703BE6}" destId="{E0E8B410-D9A8-4305-ACE2-A71ECBDC11B3}" srcOrd="2" destOrd="0" parTransId="{48EC46AC-DB9C-4425-9D8D-04BCA9C6C1A8}" sibTransId="{277A2980-CACA-428C-98DB-875DBD267AA2}"/>
    <dgm:cxn modelId="{5356388C-BB52-4ED8-83ED-00F30A15FFFA}" type="presOf" srcId="{58D025EC-0CFB-44B6-8925-1F9DFE703BE6}" destId="{69A60967-B08B-463F-A6DD-C667620FD485}" srcOrd="0" destOrd="0" presId="urn:microsoft.com/office/officeart/2005/8/layout/vList2"/>
    <dgm:cxn modelId="{9D54F0C1-680C-416B-9010-BB89C983A4DE}" srcId="{58D025EC-0CFB-44B6-8925-1F9DFE703BE6}" destId="{965E7275-CE6C-4954-ADCE-10ECD5430BAA}" srcOrd="1" destOrd="0" parTransId="{6FA0AE3D-9F49-4400-980D-3104348A04DE}" sibTransId="{BDCABA52-06BF-4BDF-AF67-6EE7BE28CA1A}"/>
    <dgm:cxn modelId="{4A8548D9-3842-415E-8F0E-FE8B5892F30A}" type="presOf" srcId="{8DAF33EF-08D4-41A3-91A4-01690DECA1D0}" destId="{F37C4960-9ADE-4E3E-BF92-7D64080D0173}" srcOrd="0" destOrd="0" presId="urn:microsoft.com/office/officeart/2005/8/layout/vList2"/>
    <dgm:cxn modelId="{423942FF-750E-4286-89F8-108508C1B0D0}" type="presOf" srcId="{E611A1AA-BE75-4035-96B4-2686D1F8D0B8}" destId="{3C3FA422-65F7-4498-BBE2-4847FB93E511}" srcOrd="0" destOrd="0" presId="urn:microsoft.com/office/officeart/2005/8/layout/vList2"/>
    <dgm:cxn modelId="{75B4B453-705E-4148-8DDE-469D8362612D}" type="presParOf" srcId="{69A60967-B08B-463F-A6DD-C667620FD485}" destId="{D07848E1-114B-466F-AFF1-4458D3BD29C7}" srcOrd="0" destOrd="0" presId="urn:microsoft.com/office/officeart/2005/8/layout/vList2"/>
    <dgm:cxn modelId="{C42829E4-E68C-4CB0-B210-F262072318C5}" type="presParOf" srcId="{69A60967-B08B-463F-A6DD-C667620FD485}" destId="{DEE28B03-5BD2-4177-BCAC-848D030CBA1B}" srcOrd="1" destOrd="0" presId="urn:microsoft.com/office/officeart/2005/8/layout/vList2"/>
    <dgm:cxn modelId="{810D6EAC-7A52-4514-849B-9519C02ADDCA}" type="presParOf" srcId="{69A60967-B08B-463F-A6DD-C667620FD485}" destId="{F0EED2EB-7949-4746-93E9-3004384AD5A7}" srcOrd="2" destOrd="0" presId="urn:microsoft.com/office/officeart/2005/8/layout/vList2"/>
    <dgm:cxn modelId="{71B1DCC3-5875-4222-8336-35E5728B3332}" type="presParOf" srcId="{69A60967-B08B-463F-A6DD-C667620FD485}" destId="{0C65A6D8-09FA-4F92-9A6E-6929B9458760}" srcOrd="3" destOrd="0" presId="urn:microsoft.com/office/officeart/2005/8/layout/vList2"/>
    <dgm:cxn modelId="{4AAB369A-9C52-4C86-84D6-09E64C811061}" type="presParOf" srcId="{69A60967-B08B-463F-A6DD-C667620FD485}" destId="{C8B5D528-1395-4B52-B73A-6010D2EF3857}" srcOrd="4" destOrd="0" presId="urn:microsoft.com/office/officeart/2005/8/layout/vList2"/>
    <dgm:cxn modelId="{06329AE7-BC1C-47EF-B10E-94B1387DC9A6}" type="presParOf" srcId="{69A60967-B08B-463F-A6DD-C667620FD485}" destId="{E1F8E787-41AA-4A82-91FE-045EAA07824E}" srcOrd="5" destOrd="0" presId="urn:microsoft.com/office/officeart/2005/8/layout/vList2"/>
    <dgm:cxn modelId="{43C16012-CBC6-4CCF-89C0-5C66A4A28844}" type="presParOf" srcId="{69A60967-B08B-463F-A6DD-C667620FD485}" destId="{3C3FA422-65F7-4498-BBE2-4847FB93E511}" srcOrd="6" destOrd="0" presId="urn:microsoft.com/office/officeart/2005/8/layout/vList2"/>
    <dgm:cxn modelId="{BC28A394-2212-428D-A94A-76BC12EBA9D7}" type="presParOf" srcId="{69A60967-B08B-463F-A6DD-C667620FD485}" destId="{E59AA863-513E-4798-A74A-23B21C8DFEC1}" srcOrd="7" destOrd="0" presId="urn:microsoft.com/office/officeart/2005/8/layout/vList2"/>
    <dgm:cxn modelId="{B908C186-ABF6-4962-A386-1F746638292E}" type="presParOf" srcId="{69A60967-B08B-463F-A6DD-C667620FD485}" destId="{1617B912-624E-4A4B-A751-726DFC77AE3D}" srcOrd="8" destOrd="0" presId="urn:microsoft.com/office/officeart/2005/8/layout/vList2"/>
    <dgm:cxn modelId="{5B817B59-C712-48BB-BD9B-7DFCBAFD32AF}" type="presParOf" srcId="{69A60967-B08B-463F-A6DD-C667620FD485}" destId="{90F083B7-8290-498F-94D9-1AC7C21CBE37}" srcOrd="9" destOrd="0" presId="urn:microsoft.com/office/officeart/2005/8/layout/vList2"/>
    <dgm:cxn modelId="{D9E54B51-3F1B-4733-BBAA-69DC15D77827}" type="presParOf" srcId="{69A60967-B08B-463F-A6DD-C667620FD485}" destId="{F37C4960-9ADE-4E3E-BF92-7D64080D017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415886-74E7-4C36-8305-B72E0EE75D24}">
      <dsp:nvSpPr>
        <dsp:cNvPr id="0" name=""/>
        <dsp:cNvSpPr/>
      </dsp:nvSpPr>
      <dsp:spPr>
        <a:xfrm>
          <a:off x="0" y="50915"/>
          <a:ext cx="6581776" cy="10908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kern="1200" dirty="0"/>
            <a:t>Where do shootings occur?</a:t>
          </a:r>
          <a:endParaRPr lang="en-US" sz="3000" kern="1200" dirty="0"/>
        </a:p>
      </dsp:txBody>
      <dsp:txXfrm>
        <a:off x="53251" y="104166"/>
        <a:ext cx="6475274" cy="984340"/>
      </dsp:txXfrm>
    </dsp:sp>
    <dsp:sp modelId="{24FC6EDB-F0B6-4D93-B2C6-82E41FCA4E9F}">
      <dsp:nvSpPr>
        <dsp:cNvPr id="0" name=""/>
        <dsp:cNvSpPr/>
      </dsp:nvSpPr>
      <dsp:spPr>
        <a:xfrm>
          <a:off x="0" y="1228157"/>
          <a:ext cx="6581776" cy="10908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kern="1200" dirty="0"/>
            <a:t>How does the time of day affect the incident?</a:t>
          </a:r>
          <a:endParaRPr lang="en-US" sz="3000" kern="1200" dirty="0"/>
        </a:p>
      </dsp:txBody>
      <dsp:txXfrm>
        <a:off x="53251" y="1281408"/>
        <a:ext cx="6475274" cy="984340"/>
      </dsp:txXfrm>
    </dsp:sp>
    <dsp:sp modelId="{5CD375C3-936C-4156-A8FE-3FF2687DB72C}">
      <dsp:nvSpPr>
        <dsp:cNvPr id="0" name=""/>
        <dsp:cNvSpPr/>
      </dsp:nvSpPr>
      <dsp:spPr>
        <a:xfrm>
          <a:off x="0" y="2405400"/>
          <a:ext cx="6581776" cy="10908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kern="1200" dirty="0"/>
            <a:t>What is the age distribution of the perpetrators?</a:t>
          </a:r>
          <a:endParaRPr lang="en-US" sz="3000" kern="1200" dirty="0"/>
        </a:p>
      </dsp:txBody>
      <dsp:txXfrm>
        <a:off x="53251" y="2458651"/>
        <a:ext cx="6475274" cy="984340"/>
      </dsp:txXfrm>
    </dsp:sp>
    <dsp:sp modelId="{E03992BD-EA60-44CE-941A-FD6EA1C0F704}">
      <dsp:nvSpPr>
        <dsp:cNvPr id="0" name=""/>
        <dsp:cNvSpPr/>
      </dsp:nvSpPr>
      <dsp:spPr>
        <a:xfrm>
          <a:off x="0" y="3582642"/>
          <a:ext cx="6581776" cy="10908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kern="1200" dirty="0"/>
            <a:t>Is there a racial bias in these incidents?</a:t>
          </a:r>
          <a:endParaRPr lang="en-US" sz="3000" kern="1200" dirty="0"/>
        </a:p>
      </dsp:txBody>
      <dsp:txXfrm>
        <a:off x="53251" y="3635893"/>
        <a:ext cx="6475274" cy="98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848E1-114B-466F-AFF1-4458D3BD29C7}">
      <dsp:nvSpPr>
        <dsp:cNvPr id="0" name=""/>
        <dsp:cNvSpPr/>
      </dsp:nvSpPr>
      <dsp:spPr>
        <a:xfrm>
          <a:off x="0" y="44909"/>
          <a:ext cx="6066818" cy="5931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Location</a:t>
          </a:r>
          <a:endParaRPr lang="en-CA" sz="2600" kern="1200"/>
        </a:p>
      </dsp:txBody>
      <dsp:txXfrm>
        <a:off x="28957" y="73866"/>
        <a:ext cx="6008904" cy="535276"/>
      </dsp:txXfrm>
    </dsp:sp>
    <dsp:sp modelId="{F0EED2EB-7949-4746-93E9-3004384AD5A7}">
      <dsp:nvSpPr>
        <dsp:cNvPr id="0" name=""/>
        <dsp:cNvSpPr/>
      </dsp:nvSpPr>
      <dsp:spPr>
        <a:xfrm>
          <a:off x="0" y="712979"/>
          <a:ext cx="6066818" cy="593190"/>
        </a:xfrm>
        <a:prstGeom prst="roundRect">
          <a:avLst/>
        </a:prstGeom>
        <a:solidFill>
          <a:schemeClr val="accent2">
            <a:hueOff val="-530711"/>
            <a:satOff val="3870"/>
            <a:lumOff val="-62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Date</a:t>
          </a:r>
          <a:endParaRPr lang="en-CA" sz="2600" kern="1200"/>
        </a:p>
      </dsp:txBody>
      <dsp:txXfrm>
        <a:off x="28957" y="741936"/>
        <a:ext cx="6008904" cy="535276"/>
      </dsp:txXfrm>
    </dsp:sp>
    <dsp:sp modelId="{C8B5D528-1395-4B52-B73A-6010D2EF3857}">
      <dsp:nvSpPr>
        <dsp:cNvPr id="0" name=""/>
        <dsp:cNvSpPr/>
      </dsp:nvSpPr>
      <dsp:spPr>
        <a:xfrm>
          <a:off x="0" y="1381049"/>
          <a:ext cx="6066818" cy="593190"/>
        </a:xfrm>
        <a:prstGeom prst="roundRect">
          <a:avLst/>
        </a:prstGeom>
        <a:solidFill>
          <a:schemeClr val="accent2">
            <a:hueOff val="-1061423"/>
            <a:satOff val="7740"/>
            <a:lumOff val="-12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Time</a:t>
          </a:r>
          <a:endParaRPr lang="en-CA" sz="2600" kern="1200"/>
        </a:p>
      </dsp:txBody>
      <dsp:txXfrm>
        <a:off x="28957" y="1410006"/>
        <a:ext cx="6008904" cy="535276"/>
      </dsp:txXfrm>
    </dsp:sp>
    <dsp:sp modelId="{3C3FA422-65F7-4498-BBE2-4847FB93E511}">
      <dsp:nvSpPr>
        <dsp:cNvPr id="0" name=""/>
        <dsp:cNvSpPr/>
      </dsp:nvSpPr>
      <dsp:spPr>
        <a:xfrm>
          <a:off x="0" y="2049120"/>
          <a:ext cx="6066818" cy="593190"/>
        </a:xfrm>
        <a:prstGeom prst="roundRect">
          <a:avLst/>
        </a:prstGeom>
        <a:solidFill>
          <a:schemeClr val="accent2">
            <a:hueOff val="-1592134"/>
            <a:satOff val="11611"/>
            <a:lumOff val="-188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Age</a:t>
          </a:r>
          <a:endParaRPr lang="en-CA" sz="2600" kern="1200"/>
        </a:p>
      </dsp:txBody>
      <dsp:txXfrm>
        <a:off x="28957" y="2078077"/>
        <a:ext cx="6008904" cy="535276"/>
      </dsp:txXfrm>
    </dsp:sp>
    <dsp:sp modelId="{1617B912-624E-4A4B-A751-726DFC77AE3D}">
      <dsp:nvSpPr>
        <dsp:cNvPr id="0" name=""/>
        <dsp:cNvSpPr/>
      </dsp:nvSpPr>
      <dsp:spPr>
        <a:xfrm>
          <a:off x="0" y="2717190"/>
          <a:ext cx="6066818" cy="593190"/>
        </a:xfrm>
        <a:prstGeom prst="roundRect">
          <a:avLst/>
        </a:prstGeom>
        <a:solidFill>
          <a:schemeClr val="accent2">
            <a:hueOff val="-2122846"/>
            <a:satOff val="15481"/>
            <a:lumOff val="-251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Gender</a:t>
          </a:r>
          <a:endParaRPr lang="en-CA" sz="2600" kern="1200"/>
        </a:p>
      </dsp:txBody>
      <dsp:txXfrm>
        <a:off x="28957" y="2746147"/>
        <a:ext cx="6008904" cy="535276"/>
      </dsp:txXfrm>
    </dsp:sp>
    <dsp:sp modelId="{F37C4960-9ADE-4E3E-BF92-7D64080D0173}">
      <dsp:nvSpPr>
        <dsp:cNvPr id="0" name=""/>
        <dsp:cNvSpPr/>
      </dsp:nvSpPr>
      <dsp:spPr>
        <a:xfrm>
          <a:off x="0" y="3385260"/>
          <a:ext cx="6066818" cy="593190"/>
        </a:xfrm>
        <a:prstGeom prst="roundRect">
          <a:avLst/>
        </a:prstGeom>
        <a:solidFill>
          <a:schemeClr val="accent2">
            <a:hueOff val="-2653557"/>
            <a:satOff val="19351"/>
            <a:lumOff val="-31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Race</a:t>
          </a:r>
          <a:endParaRPr lang="en-CA" sz="2600" kern="1200"/>
        </a:p>
      </dsp:txBody>
      <dsp:txXfrm>
        <a:off x="28957" y="3414217"/>
        <a:ext cx="6008904" cy="53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6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6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1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3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7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1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44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6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75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4/2/2022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50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3F5591-6980-EBF0-E191-F0DF7FBD8B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" t="48864" r="77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FE1B9C8-0443-4506-BBD6-3AF8DE46D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CA10E-FC44-4842-A54C-E918BC27B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/>
              <a:t>investigating NYPD Historical Shooting Incidents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8296C-5FA5-423D-BFAB-0A237408E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dirty="0"/>
              <a:t>DTSA 5301</a:t>
            </a:r>
          </a:p>
          <a:p>
            <a:r>
              <a:rPr lang="en-US" dirty="0"/>
              <a:t>University of Colorado</a:t>
            </a:r>
          </a:p>
          <a:p>
            <a:r>
              <a:rPr lang="en-CA" dirty="0"/>
              <a:t>April 1st, 2022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54C29FE-6D99-4083-90D8-9683EA5D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35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116C-7340-414E-B87B-7B8192CA9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696" y="751029"/>
            <a:ext cx="3660776" cy="44040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Objective:</a:t>
            </a:r>
            <a:br>
              <a:rPr lang="en-CA" sz="3400" dirty="0"/>
            </a:br>
            <a:br>
              <a:rPr lang="en-CA" sz="3400" dirty="0"/>
            </a:br>
            <a:r>
              <a:rPr lang="en-CA" sz="3400" dirty="0"/>
              <a:t>Evaluate the demographics of historical shootings in the City of New York</a:t>
            </a:r>
            <a:br>
              <a:rPr lang="en-CA" sz="3400" dirty="0"/>
            </a:br>
            <a:endParaRPr lang="en-CA" sz="3400" dirty="0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3A8D0702-8A74-AB06-7380-9A8752887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926613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01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95CB-37BB-4EE3-B51B-00C27023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CA" dirty="0"/>
              <a:t>Data import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FCB273-E8E2-40C9-82F1-CB91363CE7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559880"/>
              </p:ext>
            </p:extLst>
          </p:nvPr>
        </p:nvGraphicFramePr>
        <p:xfrm>
          <a:off x="1024128" y="2286000"/>
          <a:ext cx="6066818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4" descr="Manhattan skyline in dark fog">
            <a:extLst>
              <a:ext uri="{FF2B5EF4-FFF2-40B4-BE49-F238E27FC236}">
                <a16:creationId xmlns:a16="http://schemas.microsoft.com/office/drawing/2014/main" id="{C1533190-1A35-AAF9-E7CE-793E9EDBF4B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718" r="23122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1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86A-45A9-41D3-80B1-9DD8361E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Imported Data frame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6D56-EF6B-4C36-BC1A-F7DB447E6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Rows:	 23,585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Columns: 19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CA" sz="25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INCIDENT_KEY 		&lt;dbl&gt; 24050482, 77673979, 203350417, 80584527, 90843~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OCCUR_DATE 		&lt;chr&gt; "08/27/2006", "03/11/2011", "10/06/2019", "09/~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OCCUR_TIME		&lt;time&gt; 05:35:00, 12:03:00, 01:09:00, 03:35:00, 21:16~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BORO 			&lt;chr&gt; "BRONX", "QUEENS", "BROOKLYN", "BRONX", "QUEEN~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PRECINCT 		&lt;dbl&gt; 52, 106, 77, 40, 100, 67, 77, 81, 101, 106, 71~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JURISDICTION_CODE	&lt;dbl&gt; 0, 0, 0, 0, 0, 0, 0, 0, 0, 0, 0, 0, 0, 0, 0, 0~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LOCATION_DESC 		&lt;chr&gt; NA, NA, NA, NA, NA, NA, NA, NA, NA, NA, NA, NA~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STATISTICAL_MURDER_FLAG 	&lt;lgl&gt; TRUE, FALSE, FALSE, FALSE, FALSE, FALSE, FALSE~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PERP_AGE_GROUP 		&lt;chr&gt; NA, NA, NA, NA, NA, NA, NA, NA, NA, NA, NA, NA~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PERP_SEX 		&lt;chr&gt; NA, NA, NA, NA, NA, NA, NA, NA, NA, NA, NA, NA~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PERP_RACE 		&lt;chr&gt; NA, NA, NA, NA, NA, NA, NA, NA, NA, NA, NA, NA~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VIC_AGE_GROUP 		&lt;chr&gt; "25-44", "65+", "18-24", "&lt;18", "18-24", "&lt;18"~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VIC_SEX 		&lt;chr&gt; "F", "M", "F", "M", "M", "M", "M", "M", "M", "~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VIC_RACE 		&lt;chr&gt; "BLACK HISPANIC", "WHITE", "BLACK", "BLACK", "~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X_COORD_CD 		&lt;dbl&gt; 1017542, 1027543, 995325, 1007453, 1041267, 10~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Y_COORD_CD 		&lt;dbl&gt; 255918.9, 186095.0, 185155.0, 233952.0, 157133~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Latitude 		&lt;dbl&gt; 40.86906, 40.67737, 40.67489, 40.80880, 40.597~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Longitude 		&lt;dbl&gt; -73.87963, -73.84392, -73.96008, -73.91618, -7~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CA" sz="25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Lon_Lat</a:t>
            </a:r>
            <a:r>
              <a:rPr lang="en-CA" sz="2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		&lt;chr&gt; "POINT (-73.87963173099996 40.86905819000003)"~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852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86A-45A9-41D3-80B1-9DD8361E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Tidy data frame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6D56-EF6B-4C36-BC1A-F7DB447E6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Rows: 	 5,340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Columns: 18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endParaRPr lang="en-CA" sz="15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INCIDENT_KEY 		&lt;dbl&gt; 16814011, 144732382, 68964080, 85875439, 17577~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OCCUR_DATE 		&lt;date&gt; 2006-06-13, 2015-07-23, 2009-12-17, 2012-07-2~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OCCUR_TIME 		&lt;time&gt; 20:56:00, 00:22:00, 13:45:00, 21:35:00, 03:40~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BORO 			&lt;fct&gt; BROOKLYN, BROOKLYN, MANHATTAN, BRONX, QUEENS, 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PRECINCT 		&lt;fct&gt; 70, 90, 20, 42, 102, 73, 49, 73, 50, 40, 48, 4~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JURISDICTION_CODE	&lt;fct&gt; 0, 2, 0, 2, 0, 0, 0, 0, 0, 2, 0, 2, 0, 2, 2, 2~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LOCATION_DESC 		&lt;fct&gt; MULTI DWELL - APT BUILD, MULTI DWELL - PUBLIC 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STATISTICAL_MURDER_FLAG 	&lt;fct&gt; TRUE, FALSE, TRUE, FALSE, FALSE, FALSE, TRUE, 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PERP_AGE_GROUP 		&lt;fct&gt; 25-44, 25-44, 25-44, &lt;18, 25-44, &lt;18, 18-24, 1~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PERP_SEX 		&lt;fct&gt; M, M, M, M, M, M, M, M, M, M, M, M, F, M, M, M~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PERP_RACE 		&lt;fct&gt; BLACK, WHITE HISPANIC, WHITE HISPANIC, BLACK, 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VIC_AGE_GROUP 		&lt;fct&gt; 25-44, 25-44, 45-64, 25-44, 25-44, &lt;18, 18-24,~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VIC_SEX 		&lt;fct&gt; M, M, F, M, F, F, M, M, M, M, M, M, M, M, M, M~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VIC_RACE 		&lt;fct&gt; BLACK, BLACK, WHITE HISPANIC, BLACK, AMERICAN 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X_COORD_CD 		&lt;dbl&gt; 995793.0, 1001019.9, 990838.6, 1011046.7, 1031~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Y_COORD_CD 		&lt;dbl&gt; 173152.0, 196399.9, 225657.7, 239814.2, 190474~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Latitude		&lt;dbl&gt; 40.64194, 40.70574, 40.78606, 40.82488, 40.689~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Longitude 		&lt;dbl&gt; -73.95841, -73.93952, -73.97621, -73.90318, -7~</a:t>
            </a: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CA" sz="15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endParaRPr lang="en-CA" sz="14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57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0CE4-C07A-4F69-AD32-606132CB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en-CA"/>
              <a:t>DENSITY OF SHOOTINGS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B9DC19-3E06-4A79-AE84-66175FDB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1" y="1990436"/>
            <a:ext cx="7111322" cy="47408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9DE450-8BC8-C56F-4B10-E3C2C0B92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The Bronx, Brooklyn, and Manhattan have had most shootings.</a:t>
            </a:r>
          </a:p>
        </p:txBody>
      </p:sp>
    </p:spTree>
    <p:extLst>
      <p:ext uri="{BB962C8B-B14F-4D97-AF65-F5344CB8AC3E}">
        <p14:creationId xmlns:p14="http://schemas.microsoft.com/office/powerpoint/2010/main" val="80626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8E8D-941E-48E4-B517-9A6BC0B0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en-CA"/>
              <a:t>Age distribution of perpetrators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303CF-9526-4272-91ED-2EBAA9CAB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1" y="1916546"/>
            <a:ext cx="7111322" cy="4740882"/>
          </a:xfrm>
          <a:prstGeom prst="rect">
            <a:avLst/>
          </a:prstGeom>
        </p:spPr>
      </p:pic>
      <p:sp>
        <p:nvSpPr>
          <p:cNvPr id="45" name="Rectangle 34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2BB393-5E3A-F146-323D-EC344435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Most of the perpetrators are below the ages of 45.</a:t>
            </a:r>
          </a:p>
        </p:txBody>
      </p:sp>
    </p:spTree>
    <p:extLst>
      <p:ext uri="{BB962C8B-B14F-4D97-AF65-F5344CB8AC3E}">
        <p14:creationId xmlns:p14="http://schemas.microsoft.com/office/powerpoint/2010/main" val="369536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8E8D-941E-48E4-B517-9A6BC0B0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en-CA"/>
              <a:t>Time of SHOOTINGS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018D63-75D4-4DC6-A4E7-67FDD6AC6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" t="-1" r="-752" b="4"/>
          <a:stretch/>
        </p:blipFill>
        <p:spPr>
          <a:xfrm>
            <a:off x="379987" y="1833417"/>
            <a:ext cx="6911252" cy="46164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2BB393-5E3A-F146-323D-EC344435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The older a perpetrator is, the earlier in the day a shooting will occur.</a:t>
            </a:r>
          </a:p>
        </p:txBody>
      </p:sp>
    </p:spTree>
    <p:extLst>
      <p:ext uri="{BB962C8B-B14F-4D97-AF65-F5344CB8AC3E}">
        <p14:creationId xmlns:p14="http://schemas.microsoft.com/office/powerpoint/2010/main" val="401504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8E8D-941E-48E4-B517-9A6BC0B0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en-CA" dirty="0"/>
              <a:t>DYNAMICS OF RACE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2BB393-5E3A-F146-323D-EC344435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The majority of shootings are occurring between Black people.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8509A-6C5D-4EA1-A422-2929772B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7" y="2146442"/>
            <a:ext cx="7221098" cy="41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2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58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E1B8-C4FB-4A5F-B55F-1C1107BC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/>
              <a:t>CONCLUSION</a:t>
            </a:r>
          </a:p>
        </p:txBody>
      </p:sp>
      <p:cxnSp>
        <p:nvCxnSpPr>
          <p:cNvPr id="64" name="Straight Connector 60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A26D-B7F9-44F6-A9EA-67EDA3CFC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Most of the shootings have occurred between Black people who are under the age of 45 in the boroughs of the Bronx, Brooklyn, and Manhattan.</a:t>
            </a:r>
          </a:p>
        </p:txBody>
      </p:sp>
    </p:spTree>
    <p:extLst>
      <p:ext uri="{BB962C8B-B14F-4D97-AF65-F5344CB8AC3E}">
        <p14:creationId xmlns:p14="http://schemas.microsoft.com/office/powerpoint/2010/main" val="9969363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Virid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440154"/>
      </a:accent1>
      <a:accent2>
        <a:srgbClr val="414487"/>
      </a:accent2>
      <a:accent3>
        <a:srgbClr val="2A788E"/>
      </a:accent3>
      <a:accent4>
        <a:srgbClr val="22A884"/>
      </a:accent4>
      <a:accent5>
        <a:srgbClr val="7AD151"/>
      </a:accent5>
      <a:accent6>
        <a:srgbClr val="FDE725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1096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Cascadia Code SemiLight</vt:lpstr>
      <vt:lpstr>Tw Cen MT</vt:lpstr>
      <vt:lpstr>Tw Cen MT Condensed</vt:lpstr>
      <vt:lpstr>Wingdings 3</vt:lpstr>
      <vt:lpstr>Integral</vt:lpstr>
      <vt:lpstr>investigating NYPD Historical Shooting Incidents</vt:lpstr>
      <vt:lpstr>Objective:  Evaluate the demographics of historical shootings in the City of New York </vt:lpstr>
      <vt:lpstr>Data import FEATURES</vt:lpstr>
      <vt:lpstr>Imported Data frame summary</vt:lpstr>
      <vt:lpstr>Tidy data frame summary</vt:lpstr>
      <vt:lpstr>DENSITY OF SHOOTINGS</vt:lpstr>
      <vt:lpstr>Age distribution of perpetrators</vt:lpstr>
      <vt:lpstr>Time of SHOOTINGS</vt:lpstr>
      <vt:lpstr>DYNAMICS OF RACE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NYPD Historical Shooting Incidents</dc:title>
  <dc:creator>Ryan Bulger</dc:creator>
  <cp:lastModifiedBy>Ryan Bulger</cp:lastModifiedBy>
  <cp:revision>8</cp:revision>
  <dcterms:created xsi:type="dcterms:W3CDTF">2022-03-25T23:50:05Z</dcterms:created>
  <dcterms:modified xsi:type="dcterms:W3CDTF">2022-04-02T20:35:58Z</dcterms:modified>
</cp:coreProperties>
</file>